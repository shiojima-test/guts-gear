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54864" cy="32004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B9BD5"/>
                </a:solidFill>
                <a:latin typeface="Meiryo"/>
              </a:defRPr>
            </a:pPr>
            <a:r>
              <a:t>国立青少年教育施設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eiryo"/>
              </a:defRPr>
            </a:pPr>
            <a:r>
              <a:t>環境マッピングマップ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5B9BD5"/>
                </a:solidFill>
                <a:latin typeface="Meiryo"/>
              </a:defRPr>
            </a:pPr>
            <a:r>
              <a:t>使い方ガイド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ABB"/>
                </a:solidFill>
                <a:latin typeface="Meiryo"/>
              </a:defRPr>
            </a:pPr>
            <a:r>
              <a:t>高校情報II データサイエンス授業用  |  環境センサーデータの可視化・分析ツール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eiryo"/>
              </a:defRPr>
            </a:pPr>
            <a:r>
              <a:t>https://shiojima-test.github.io/schoomy-gis/niye_comfort_v1.html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画面構成の全体像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ABB"/>
                </a:solidFill>
                <a:latin typeface="Meiryo"/>
              </a:defRPr>
            </a:pPr>
            <a:r>
              <a:t>各エリアの役割を理解しましょう</a:t>
            </a:r>
          </a:p>
        </p:txBody>
      </p:sp>
      <p:pic>
        <p:nvPicPr>
          <p:cNvPr id="5" name="Picture 4" descr="01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412480" cy="53949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961120" y="1005840"/>
            <a:ext cx="365760" cy="365760"/>
          </a:xfrm>
          <a:prstGeom prst="ellipse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987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ヘッダー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ABB"/>
                </a:solidFill>
                <a:latin typeface="Meiryo"/>
              </a:defRPr>
            </a:pPr>
            <a:r>
              <a:t>タイトル、シリアル接続</a:t>
            </a:r>
            <a:br/>
            <a:r>
              <a:t>ボタン、動作モード表示</a:t>
            </a:r>
          </a:p>
        </p:txBody>
      </p:sp>
      <p:sp>
        <p:nvSpPr>
          <p:cNvPr id="9" name="Oval 8"/>
          <p:cNvSpPr/>
          <p:nvPr/>
        </p:nvSpPr>
        <p:spPr>
          <a:xfrm>
            <a:off x="8961120" y="1874520"/>
            <a:ext cx="365760" cy="365760"/>
          </a:xfrm>
          <a:prstGeom prst="ellipse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856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コントロールバー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103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ABB"/>
                </a:solidFill>
                <a:latin typeface="Meiryo"/>
              </a:defRPr>
            </a:pPr>
            <a:r>
              <a:t>季節（春夏秋冬）と</a:t>
            </a:r>
            <a:br/>
            <a:r>
              <a:t>時間帯（朝昼夕夜）の切替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0" y="2743200"/>
            <a:ext cx="365760" cy="365760"/>
          </a:xfrm>
          <a:prstGeom prst="ellipse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7249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施設一覧（左パネル）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ABB"/>
                </a:solidFill>
                <a:latin typeface="Meiryo"/>
              </a:defRPr>
            </a:pPr>
            <a:r>
              <a:t>29施設のスコア一覧</a:t>
            </a:r>
            <a:br/>
            <a:r>
              <a:t>クリックで地図移動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0" y="3611880"/>
            <a:ext cx="365760" cy="365760"/>
          </a:xfrm>
          <a:prstGeom prst="ellipse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5935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地図エリア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840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ABB"/>
                </a:solidFill>
                <a:latin typeface="Meiryo"/>
              </a:defRPr>
            </a:pPr>
            <a:r>
              <a:t>マーカーで快適スコアを</a:t>
            </a:r>
            <a:br/>
            <a:r>
              <a:t>色分け表示</a:t>
            </a:r>
          </a:p>
        </p:txBody>
      </p:sp>
      <p:sp>
        <p:nvSpPr>
          <p:cNvPr id="18" name="Oval 17"/>
          <p:cNvSpPr/>
          <p:nvPr/>
        </p:nvSpPr>
        <p:spPr>
          <a:xfrm>
            <a:off x="8961120" y="4480560"/>
            <a:ext cx="365760" cy="365760"/>
          </a:xfrm>
          <a:prstGeom prst="ellipse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462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データ分析（右パネル）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7091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ABB"/>
                </a:solidFill>
                <a:latin typeface="Meiryo"/>
              </a:defRPr>
            </a:pPr>
            <a:r>
              <a:t>季節/分布/相関/時系列</a:t>
            </a:r>
            <a:br/>
            <a:r>
              <a:t>/異常値/CSV出力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0" y="5349240"/>
            <a:ext cx="365760" cy="365760"/>
          </a:xfrm>
          <a:prstGeom prst="ellipse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53309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凡例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FAABB"/>
                </a:solidFill>
                <a:latin typeface="Meiryo"/>
              </a:defRPr>
            </a:pPr>
            <a:r>
              <a:t>快適スコアの色分けと</a:t>
            </a:r>
            <a:br/>
            <a:r>
              <a:t>施設種別の表示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使い方ガイド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ABB"/>
                </a:solidFill>
                <a:latin typeface="Meiryo"/>
              </a:defRPr>
            </a:pPr>
            <a:r>
              <a:t>4つのステップで環境データを探索しましょう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743200" cy="512064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97280" cy="36576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URLにアクセス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ブラウザで以下のURLを開きます。</a:t>
            </a:r>
            <a:br/>
            <a:r>
              <a:t>Chrome / Edge 推奨。</a:t>
            </a:r>
            <a:br/>
            <a:r>
              <a:t>デモモードで自動的にデータが表示されます。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9BD5"/>
                </a:solidFill>
                <a:latin typeface="Meiryo"/>
              </a:defRPr>
            </a:pPr>
            <a:r>
              <a:t>https://shiojima-test.github.io/</a:t>
            </a:r>
            <a:br/>
            <a:r>
              <a:t>schoomy-gis/niye_comfort_v1.html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512064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463040"/>
            <a:ext cx="1097280" cy="36576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季節・時間帯を選択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コントロールバーで季節（春/夏/秋/冬）と</a:t>
            </a:r>
            <a:br/>
            <a:r>
              <a:t>時間帯（朝/昼/夕/夜）を切り替えます。</a:t>
            </a:r>
            <a:br/>
            <a:r>
              <a:t>全16パターンのデータを比較できます。</a:t>
            </a:r>
          </a:p>
        </p:txBody>
      </p:sp>
      <p:pic>
        <p:nvPicPr>
          <p:cNvPr id="14" name="Picture 13" descr="04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114800"/>
            <a:ext cx="2468880" cy="8229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188720"/>
            <a:ext cx="2743200" cy="512064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1463040"/>
            <a:ext cx="1097280" cy="36576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施設を探索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左パネルの施設一覧から施設をクリック、</a:t>
            </a:r>
            <a:br/>
            <a:r>
              <a:t>または地図上のマーカーをクリックします。</a:t>
            </a:r>
            <a:br/>
            <a:r>
              <a:t>ポップアップで詳細データを確認できます。</a:t>
            </a:r>
          </a:p>
        </p:txBody>
      </p:sp>
      <p:pic>
        <p:nvPicPr>
          <p:cNvPr id="19" name="Picture 18" descr="05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114800"/>
            <a:ext cx="2468880" cy="18288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098280" y="1188720"/>
            <a:ext cx="2743200" cy="512064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72600" y="1463040"/>
            <a:ext cx="1097280" cy="36576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データを分析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56032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右パネルのタブを使って分析します。</a:t>
            </a:r>
            <a:br/>
            <a:r>
              <a:t>分布（ヒストグラム/箱ひげ図）</a:t>
            </a:r>
            <a:br/>
            <a:r>
              <a:t>相関（散布図/回帰分析）</a:t>
            </a:r>
            <a:br/>
            <a:r>
              <a:t>時系列/異常値検知/CSV出力</a:t>
            </a:r>
          </a:p>
        </p:txBody>
      </p:sp>
      <p:pic>
        <p:nvPicPr>
          <p:cNvPr id="24" name="Picture 23" descr="03b_right_co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4114800"/>
            <a:ext cx="24688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センサーデータの見方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ABB"/>
                </a:solidFill>
                <a:latin typeface="Meiryo"/>
              </a:defRPr>
            </a:pPr>
            <a:r>
              <a:t>4つのセンサー項目で環境の快適さを数値化します</a:t>
            </a:r>
          </a:p>
        </p:txBody>
      </p:sp>
      <p:pic>
        <p:nvPicPr>
          <p:cNvPr id="5" name="Picture 4" descr="06_leg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228600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0" y="1188720"/>
            <a:ext cx="2103120" cy="301752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2103120" cy="54864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  <a:latin typeface="Meiryo"/>
              </a:defRPr>
            </a:pPr>
            <a:r>
              <a:t>快適範囲: 17〜28℃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945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気温を測定。快適範囲は17〜28℃。</a:t>
            </a:r>
            <a:br/>
            <a:r>
              <a:t>緯度が高い（北の）施設ほど低温、</a:t>
            </a:r>
            <a:br/>
            <a:r>
              <a:t>標高が高い施設ほど低温の傾向。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188720"/>
            <a:ext cx="2103120" cy="301752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40680" y="1188720"/>
            <a:ext cx="2103120" cy="54864"/>
          </a:xfrm>
          <a:prstGeom prst="rect">
            <a:avLst/>
          </a:prstGeom>
          <a:solidFill>
            <a:srgbClr val="2E8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湿度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  <a:latin typeface="Meiryo"/>
              </a:defRPr>
            </a:pPr>
            <a:r>
              <a:t>快適範囲: 30〜70%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1945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空気中の水分量。快適範囲は30〜70%。</a:t>
            </a:r>
            <a:br/>
            <a:r>
              <a:t>夏は高湿、冬は低湿の傾向。</a:t>
            </a:r>
            <a:br/>
            <a:r>
              <a:t>沿岸部は内陸部より高い。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188720"/>
            <a:ext cx="2103120" cy="301752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188720"/>
            <a:ext cx="2103120" cy="54864"/>
          </a:xfrm>
          <a:prstGeom prst="rect">
            <a:avLst/>
          </a:prstGeom>
          <a:solidFill>
            <a:srgbClr val="E88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照度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  <a:latin typeface="Meiryo"/>
              </a:defRPr>
            </a:pPr>
            <a:r>
              <a:t>快適範囲: 300〜750lx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1945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明るさを測定。快適範囲は300〜750lx。</a:t>
            </a:r>
            <a:br/>
            <a:r>
              <a:t>昼が最も高く、夜は最低。</a:t>
            </a:r>
            <a:br/>
            <a:r>
              <a:t>季節では夏が最も明るい。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1188720"/>
            <a:ext cx="2103120" cy="301752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21240" y="1188720"/>
            <a:ext cx="2103120" cy="54864"/>
          </a:xfrm>
          <a:prstGeom prst="rect">
            <a:avLst/>
          </a:prstGeom>
          <a:solidFill>
            <a:srgbClr val="5DC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CO2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  <a:latin typeface="Meiryo"/>
              </a:defRPr>
            </a:pPr>
            <a:r>
              <a:t>快適範囲: 350〜1000ppm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21945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二酸化炭素濃度。快適範囲は350〜1000ppm。</a:t>
            </a:r>
            <a:br/>
            <a:r>
              <a:t>夜間は高め、昼間は光合成で低下。</a:t>
            </a:r>
            <a:br/>
            <a:r>
              <a:t>標高が高い施設は低い傾向。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快適スコアの算出方法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各センサー値が快適範囲の中央にどれだけ近いかを0〜100で数値化し、4項目の平均を「快適スコア」として算出します。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440680"/>
            <a:ext cx="228600" cy="228600"/>
          </a:xfrm>
          <a:prstGeom prst="ellipse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iryo"/>
              </a:defRPr>
            </a:pPr>
            <a:r>
              <a:t>75〜100  快適</a:t>
            </a:r>
          </a:p>
        </p:txBody>
      </p:sp>
      <p:sp>
        <p:nvSpPr>
          <p:cNvPr id="30" name="Oval 29"/>
          <p:cNvSpPr/>
          <p:nvPr/>
        </p:nvSpPr>
        <p:spPr>
          <a:xfrm>
            <a:off x="2743200" y="5440680"/>
            <a:ext cx="228600" cy="228600"/>
          </a:xfrm>
          <a:prstGeom prst="ellipse">
            <a:avLst/>
          </a:prstGeom>
          <a:solidFill>
            <a:srgbClr val="5DC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iryo"/>
              </a:defRPr>
            </a:pPr>
            <a:r>
              <a:t>55〜74  良好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0" y="5440680"/>
            <a:ext cx="228600" cy="22860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iryo"/>
              </a:defRPr>
            </a:pPr>
            <a:r>
              <a:t>35〜54  普通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0" y="5440680"/>
            <a:ext cx="228600" cy="228600"/>
          </a:xfrm>
          <a:prstGeom prst="ellipse">
            <a:avLst/>
          </a:prstGeom>
          <a:solidFill>
            <a:srgbClr val="E5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iryo"/>
              </a:defRPr>
            </a:pPr>
            <a:r>
              <a:t>0〜34  不快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施設の詳細を見る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ABB"/>
                </a:solidFill>
                <a:latin typeface="Meiryo"/>
              </a:defRPr>
            </a:pPr>
            <a:r>
              <a:t>マーカーをクリックして施設ごとの環境データを確認</a:t>
            </a:r>
          </a:p>
        </p:txBody>
      </p:sp>
      <p:pic>
        <p:nvPicPr>
          <p:cNvPr id="5" name="Picture 4" descr="05_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572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  <a:latin typeface="Meiryo"/>
              </a:defRPr>
            </a:pPr>
            <a:r>
              <a:t>施設名・種別バッジ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737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施設の正式名称と「交流の家」「自然の家」の</a:t>
            </a:r>
            <a:br/>
            <a:r>
              <a:t>種別がバッジで表示されます。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  <a:latin typeface="Meiryo"/>
              </a:defRPr>
            </a:pPr>
            <a:r>
              <a:t>位置・標高情報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緯度（N35.29など）と標高（500mなど）が</a:t>
            </a:r>
            <a:br/>
            <a:r>
              <a:t>表示されます。データ分析の参考に。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749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  <a:latin typeface="Meiryo"/>
              </a:defRPr>
            </a:pPr>
            <a:r>
              <a:t>快適スコア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114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4つのセンサー値から算出された</a:t>
            </a:r>
            <a:br/>
            <a:r>
              <a:t>総合的な快適度が色付きで表示されます。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D5"/>
                </a:solidFill>
                <a:latin typeface="Meiryo"/>
              </a:defRPr>
            </a:pPr>
            <a:r>
              <a:t>センサーバー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303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温度・湿度・照度・CO2の各値が</a:t>
            </a:r>
            <a:br/>
            <a:r>
              <a:t>バーグラフで視覚的に表示されます。</a:t>
            </a:r>
            <a:br/>
            <a:r>
              <a:t>色はスコアに連動しています。</a:t>
            </a:r>
          </a:p>
        </p:txBody>
      </p:sp>
      <p:pic>
        <p:nvPicPr>
          <p:cNvPr id="14" name="Picture 13" descr="02_sid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2743200" cy="5029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0" y="182880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左パネルの施設一覧からも</a:t>
            </a:r>
            <a:br/>
            <a:r>
              <a:t>選択できます。</a:t>
            </a:r>
            <a:br/>
            <a:br/>
            <a:r>
              <a:t>クリックすると地図が</a:t>
            </a:r>
            <a:br/>
            <a:r>
              <a:t>その施設に移動し、</a:t>
            </a:r>
            <a:br/>
            <a:r>
              <a:t>ポップアップが表示されます。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データの分析方法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ABB"/>
                </a:solidFill>
                <a:latin typeface="Meiryo"/>
              </a:defRPr>
            </a:pPr>
            <a:r>
              <a:t>右パネルの6つのタブで多角的にデータを分析できます</a:t>
            </a:r>
          </a:p>
        </p:txBody>
      </p:sp>
      <p:pic>
        <p:nvPicPr>
          <p:cNvPr id="5" name="Picture 4" descr="03_right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2004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9BD5"/>
                </a:solidFill>
                <a:latin typeface="Meiryo"/>
              </a:defRPr>
            </a:pPr>
            <a:r>
              <a:t>季節タブ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FAABB"/>
                </a:solidFill>
                <a:latin typeface="Meiryo"/>
              </a:defRPr>
            </a:pPr>
            <a:r>
              <a:t>現在の季節・時間帯の詳細情報、</a:t>
            </a:r>
            <a:br/>
            <a:r>
              <a:t>全施設の平均値、</a:t>
            </a:r>
            <a:br/>
            <a:r>
              <a:t>データサイエンスのヒントを表示</a:t>
            </a:r>
          </a:p>
        </p:txBody>
      </p:sp>
      <p:pic>
        <p:nvPicPr>
          <p:cNvPr id="8" name="Picture 7" descr="03c_righ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97280"/>
            <a:ext cx="32004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9BD5"/>
                </a:solidFill>
                <a:latin typeface="Meiryo"/>
              </a:defRPr>
            </a:pPr>
            <a:r>
              <a:t>分布タブ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FAABB"/>
                </a:solidFill>
                <a:latin typeface="Meiryo"/>
              </a:defRPr>
            </a:pPr>
            <a:r>
              <a:t>ヒストグラムと箱ひげ図で</a:t>
            </a:r>
            <a:br/>
            <a:r>
              <a:t>データの分布を可視化。</a:t>
            </a:r>
            <a:br/>
            <a:r>
              <a:t>基本統計量（平均/中央値/標準偏差）も表示</a:t>
            </a:r>
          </a:p>
        </p:txBody>
      </p:sp>
      <p:pic>
        <p:nvPicPr>
          <p:cNvPr id="11" name="Picture 10" descr="03b_right_co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97280"/>
            <a:ext cx="3200400" cy="3474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9BD5"/>
                </a:solidFill>
                <a:latin typeface="Meiryo"/>
              </a:defRPr>
            </a:pPr>
            <a:r>
              <a:t>相関タブ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FAABB"/>
                </a:solidFill>
                <a:latin typeface="Meiryo"/>
              </a:defRPr>
            </a:pPr>
            <a:r>
              <a:t>散布図で2変数間の関係を分析。</a:t>
            </a:r>
            <a:br/>
            <a:r>
              <a:t>相関係数と回帰直線を自動計算。</a:t>
            </a:r>
            <a:br/>
            <a:r>
              <a:t>「緯度×温度」で地理的傾向を発見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669280"/>
            <a:ext cx="11612880" cy="36576"/>
          </a:xfrm>
          <a:prstGeom prst="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06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時系列タブ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824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施設ごとの一日の変化（朝→昼→夕→夜）をグラフで比較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806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異常値タブ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824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平均±2σ（標準偏差）から外れた値を自動検出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806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eiryo"/>
              </a:defRPr>
            </a:pPr>
            <a:r>
              <a:t>CSVタブ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5824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全データをCSVファイルとしてダウンロード（全16パターン対応）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アクセス方法・授業での活用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32720" cy="1280160"/>
          </a:xfrm>
          <a:prstGeom prst="roundRect">
            <a:avLst/>
          </a:prstGeom>
          <a:solidFill>
            <a:srgbClr val="16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9BD5"/>
                </a:solidFill>
                <a:latin typeface="Meiryo"/>
              </a:defRPr>
            </a:pPr>
            <a:r>
              <a:t>アクセスURL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https://shiojima-test.github.io/schoomy-gis/niye_comfort_v1.html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動作環境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  ブラウザ: Chrome / Edge 推奨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  インターネット接続: 必要（地図タイル読み込み）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  インストール: 不要（Webアプリ）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  シリアル接続: Chrome/Edge の Web Serial API 対応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BB"/>
                </a:solidFill>
                <a:latin typeface="Meiryo"/>
              </a:defRPr>
            </a:pPr>
            <a:r>
              <a:t>  （実機センサー接続はオプション）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授業での活用アイデア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914400" cy="32004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探究1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1546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「なぜ北の施設ほど気温が低いのか？」</a:t>
            </a:r>
            <a:br/>
            <a:r>
              <a:t>緯度と温度の相関を散布図で確認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23360"/>
            <a:ext cx="914400" cy="32004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探究2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9776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「標高が環境に与える影響は？」</a:t>
            </a:r>
            <a:br/>
            <a:r>
              <a:t>標高と各センサー値の関係を分析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46320"/>
            <a:ext cx="914400" cy="32004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探究3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8006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「季節による環境変化のパターンは？」</a:t>
            </a:r>
            <a:br/>
            <a:r>
              <a:t>4季節×4時間帯のデータを比較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669280"/>
            <a:ext cx="914400" cy="320040"/>
          </a:xfrm>
          <a:prstGeom prst="roundRect">
            <a:avLst/>
          </a:prstGeom>
          <a:solidFill>
            <a:srgbClr val="3AA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探究4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6235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FAABB"/>
                </a:solidFill>
                <a:latin typeface="Meiryo"/>
              </a:defRPr>
            </a:pPr>
            <a:r>
              <a:t>「異常値のある施設の特徴は？」</a:t>
            </a:r>
            <a:br/>
            <a:r>
              <a:t>異常値タブから外れ値の原因を推測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F6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355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eiryo"/>
              </a:defRPr>
            </a:pPr>
            <a:r>
              <a:t>国立青少年教育施設 環境マッピングマップ  |  高校情報II データサイエンス授業用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